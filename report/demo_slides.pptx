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jitter</c:v>
                </c:pt>
              </c:strCache>
            </c:strRef>
          </c:tx>
          <c:spPr>
            <a:solidFill>
              <a:srgbClr val="5B718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322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718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7C5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C5D8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None
(baseline)</c:v>
                  </c:pt>
                  <c:pt idx="1">
                    <c:v>EMA</c:v>
                  </c:pt>
                  <c:pt idx="2">
                    <c:v>1-Euro</c:v>
                  </c:pt>
                  <c:pt idx="3">
                    <c:v>Kalman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4.07</c:v>
                </c:pt>
                <c:pt idx="1">
                  <c:v>3.28</c:v>
                </c:pt>
                <c:pt idx="2">
                  <c:v>3.4</c:v>
                </c:pt>
                <c:pt idx="3">
                  <c:v>3.69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300" u="none">
                  <a:solidFill>
                    <a:srgbClr val="1322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322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7C5A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7C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COMPUTER VISION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Perspective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Correction for Selfie Video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Adaptive, depth-driven, temporally stable — running live at 30 FPS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Daoyuan Chi</a:t>
            </a:r>
            <a:pPr indent="0" marL="0">
              <a:buNone/>
            </a:pPr>
            <a:r>
              <a:rPr lang="en-US" sz="15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CS 131, Spring 2026   ·   Solo project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Selfies distort your face — and prior fixes are offline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3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cameras sit 30–50 cm away. Perspective makes near features (nose, lips, forehead) loom larger than far ones (ears, jaw).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3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 corrects this per still image, offline: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 2016, Shih 2019 — fit a 3D model to one photo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Zhao 2019, DisCO 2024 — deep nets, seconds per image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800600"/>
            <a:ext cx="5212080" cy="1371600"/>
          </a:xfrm>
          <a:prstGeom prst="rect">
            <a:avLst/>
          </a:prstGeom>
          <a:solidFill>
            <a:srgbClr val="10243E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4800600"/>
            <a:ext cx="109728" cy="1371600"/>
          </a:xfrm>
          <a:prstGeom prst="rect">
            <a:avLst/>
          </a:prstGeom>
          <a:solidFill>
            <a:srgbClr val="37C5A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4956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C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gap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5230368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real-time, temporally-stable corrector for live selfie video.</a:t>
            </a:r>
            <a:endParaRPr lang="en-US" sz="1600" dirty="0"/>
          </a:p>
        </p:txBody>
      </p:sp>
      <p:pic>
        <p:nvPicPr>
          <p:cNvPr id="9" name="Image 0" descr="proof_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828800"/>
            <a:ext cx="5486400" cy="1828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794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Close-up (left) → our correction (middle) → the same person at 16 ft, this subject’s own ground truth (right).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26480" y="4526280"/>
            <a:ext cx="5486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126480" y="4526280"/>
            <a:ext cx="109728" cy="960120"/>
          </a:xfrm>
          <a:prstGeom prst="rect">
            <a:avLst/>
          </a:prstGeom>
          <a:solidFill>
            <a:srgbClr val="37C5A3"/>
          </a:solidFill>
          <a:ln/>
        </p:spPr>
      </p:sp>
      <p:sp>
        <p:nvSpPr>
          <p:cNvPr id="13" name="Text 10"/>
          <p:cNvSpPr/>
          <p:nvPr/>
        </p:nvSpPr>
        <p:spPr>
          <a:xfrm>
            <a:off x="6355080" y="4663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nose-width / face-width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55080" y="495604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0.296</a:t>
            </a:r>
            <a:pPr indent="0" marL="0">
              <a:buNone/>
            </a:pPr>
            <a:r>
              <a:rPr lang="en-US" sz="1600" b="1" dirty="0">
                <a:solidFill>
                  <a:srgbClr val="1322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0.286</a:t>
            </a:r>
            <a:pPr indent="0" marL="0">
              <a:buNone/>
            </a:pPr>
            <a:r>
              <a:rPr lang="en-US" sz="1600" b="1" dirty="0">
                <a:solidFill>
                  <a:srgbClr val="5B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subject GT 0.287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131 Final Project  ·  Daoyuan Chi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measure-then-correct pipeline, per frame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06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20240"/>
            <a:ext cx="2606040" cy="1097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267712"/>
            <a:ext cx="640080" cy="640080"/>
          </a:xfrm>
          <a:prstGeom prst="ellipse">
            <a:avLst/>
          </a:prstGeom>
          <a:solidFill>
            <a:srgbClr val="10243E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7C5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31520" y="345643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Face Mesh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478 (x, y, z) landmarks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36392" y="2560320"/>
            <a:ext cx="292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447288" y="1920240"/>
            <a:ext cx="2606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47288" y="1920240"/>
            <a:ext cx="2606040" cy="1097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3703320" y="2267712"/>
            <a:ext cx="640080" cy="640080"/>
          </a:xfrm>
          <a:prstGeom prst="ellipse">
            <a:avLst/>
          </a:prstGeom>
          <a:solidFill>
            <a:srgbClr val="10243E"/>
          </a:solidFill>
          <a:ln/>
        </p:spPr>
      </p:sp>
      <p:sp>
        <p:nvSpPr>
          <p:cNvPr id="14" name="Text 12"/>
          <p:cNvSpPr/>
          <p:nvPr/>
        </p:nvSpPr>
        <p:spPr>
          <a:xfrm>
            <a:off x="370332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7C5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630168" y="3063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30168" y="345643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Distortion ratios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per-user calibration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035040" y="2560320"/>
            <a:ext cx="292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345936" y="1920240"/>
            <a:ext cx="2606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45936" y="1920240"/>
            <a:ext cx="2606040" cy="1097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0" name="Shape 18"/>
          <p:cNvSpPr/>
          <p:nvPr/>
        </p:nvSpPr>
        <p:spPr>
          <a:xfrm>
            <a:off x="6601968" y="2267712"/>
            <a:ext cx="640080" cy="640080"/>
          </a:xfrm>
          <a:prstGeom prst="ellipse">
            <a:avLst/>
          </a:prstGeom>
          <a:solidFill>
            <a:srgbClr val="10243E"/>
          </a:solidFill>
          <a:ln/>
        </p:spPr>
      </p:sp>
      <p:sp>
        <p:nvSpPr>
          <p:cNvPr id="21" name="Text 19"/>
          <p:cNvSpPr/>
          <p:nvPr/>
        </p:nvSpPr>
        <p:spPr>
          <a:xfrm>
            <a:off x="660196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7C5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528816" y="3063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Correct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528816" y="345643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depth-driven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 re-projection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933688" y="2560320"/>
            <a:ext cx="292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9244584" y="1920240"/>
            <a:ext cx="2606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44584" y="1920240"/>
            <a:ext cx="2606040" cy="1097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Shape 25"/>
          <p:cNvSpPr/>
          <p:nvPr/>
        </p:nvSpPr>
        <p:spPr>
          <a:xfrm>
            <a:off x="9500616" y="2267712"/>
            <a:ext cx="640080" cy="640080"/>
          </a:xfrm>
          <a:prstGeom prst="ellipse">
            <a:avLst/>
          </a:prstGeom>
          <a:solidFill>
            <a:srgbClr val="10243E"/>
          </a:solidFill>
          <a:ln/>
        </p:spPr>
      </p:sp>
      <p:sp>
        <p:nvSpPr>
          <p:cNvPr id="28" name="Text 26"/>
          <p:cNvSpPr/>
          <p:nvPr/>
        </p:nvSpPr>
        <p:spPr>
          <a:xfrm>
            <a:off x="950061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7C5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427464" y="3063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Stabilize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9427464" y="345643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smoothing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frames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4663440"/>
            <a:ext cx="11064240" cy="1325880"/>
          </a:xfrm>
          <a:prstGeom prst="rect">
            <a:avLst/>
          </a:prstGeom>
          <a:solidFill>
            <a:srgbClr val="10243E"/>
          </a:solidFill>
          <a:ln/>
        </p:spPr>
      </p:sp>
      <p:sp>
        <p:nvSpPr>
          <p:cNvPr id="32" name="Shape 30"/>
          <p:cNvSpPr/>
          <p:nvPr/>
        </p:nvSpPr>
        <p:spPr>
          <a:xfrm>
            <a:off x="548640" y="4663440"/>
            <a:ext cx="109728" cy="1325880"/>
          </a:xfrm>
          <a:prstGeom prst="rect">
            <a:avLst/>
          </a:prstGeom>
          <a:solidFill>
            <a:srgbClr val="37C5A3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C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13892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treat MediaPipe’s z as a depth signal, interpolate it to a dense per-pixel map, then apply the true </a:t>
            </a:r>
            <a:pPr indent="0" marL="0">
              <a:buNone/>
            </a:pPr>
            <a:r>
              <a:rPr lang="en-US" sz="1500" b="1" dirty="0">
                <a:solidFill>
                  <a:srgbClr val="37C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pinhole re-projection per pixel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smooth depth field gives a smooth warp, with no sparse-landmark artifacts.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131 Final Project  ·  Daoyuan Chi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· TEMPORAL STABILITY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Smoothing cuts frame-to-frame jitter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8978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landmark jitter (px) — lower is steadier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949440" y="1828800"/>
            <a:ext cx="46634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949440" y="1828800"/>
            <a:ext cx="109728" cy="1143000"/>
          </a:xfrm>
          <a:prstGeom prst="rect">
            <a:avLst/>
          </a:prstGeom>
          <a:solidFill>
            <a:srgbClr val="37C5A3"/>
          </a:solidFill>
          <a:ln/>
        </p:spPr>
      </p:sp>
      <p:sp>
        <p:nvSpPr>
          <p:cNvPr id="8" name="Text 5"/>
          <p:cNvSpPr/>
          <p:nvPr/>
        </p:nvSpPr>
        <p:spPr>
          <a:xfrm>
            <a:off x="7178040" y="193852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−19%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96328" y="25786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 jitter vs baseline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49440" y="3154680"/>
            <a:ext cx="46634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49440" y="3154680"/>
            <a:ext cx="109728" cy="1143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9"/>
          <p:cNvSpPr/>
          <p:nvPr/>
        </p:nvSpPr>
        <p:spPr>
          <a:xfrm>
            <a:off x="7178040" y="326440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−17%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196328" y="39044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1-Euro — best lag/jitter balance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949440" y="4480560"/>
            <a:ext cx="46634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949440" y="4480560"/>
            <a:ext cx="109728" cy="1143000"/>
          </a:xfrm>
          <a:prstGeom prst="rect">
            <a:avLst/>
          </a:prstGeom>
          <a:solidFill>
            <a:srgbClr val="1C5D8C"/>
          </a:solidFill>
          <a:ln/>
        </p:spPr>
      </p:sp>
      <p:sp>
        <p:nvSpPr>
          <p:cNvPr id="16" name="Text 13"/>
          <p:cNvSpPr/>
          <p:nvPr/>
        </p:nvSpPr>
        <p:spPr>
          <a:xfrm>
            <a:off x="7178040" y="459028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s / 300 frames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196328" y="523036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talking + head-turn clip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949440" y="57607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EMA, Kalman, and the 1-Euro filter (Casiez 2012) all reduce jitter; 1-Euro trades a little for better motion response, as expected.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131 Final Project  ·  Daoyuan Chi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· ACCURACY ON GROUND TRUTH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 subjects × 7 distances (Caltech CMDP)</a:t>
            </a:r>
            <a:endParaRPr lang="en-US" sz="3000" dirty="0"/>
          </a:p>
        </p:txBody>
      </p:sp>
      <p:pic>
        <p:nvPicPr>
          <p:cNvPr id="4" name="Image 0" descr="cmdp_cle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704088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3492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Caltech Multi-Distance Portraits — each subject shot at 2–16 ft; the 16 ft frame is the distortion-free ground truth. Our correction (teal) pulls the distorted curve toward it at every distance.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7955280" y="1828800"/>
            <a:ext cx="3657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0" y="1828800"/>
            <a:ext cx="109728" cy="1188720"/>
          </a:xfrm>
          <a:prstGeom prst="rect">
            <a:avLst/>
          </a:prstGeom>
          <a:solidFill>
            <a:srgbClr val="37C5A3"/>
          </a:solidFill>
          <a:ln/>
        </p:spPr>
      </p:sp>
      <p:sp>
        <p:nvSpPr>
          <p:cNvPr id="8" name="Text 5"/>
          <p:cNvSpPr/>
          <p:nvPr/>
        </p:nvSpPr>
        <p:spPr>
          <a:xfrm>
            <a:off x="8183880" y="19568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93%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8202168" y="25420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distortion gap closed at 6 ft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955280" y="3200400"/>
            <a:ext cx="3657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955280" y="3200400"/>
            <a:ext cx="109728" cy="1188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9"/>
          <p:cNvSpPr/>
          <p:nvPr/>
        </p:nvSpPr>
        <p:spPr>
          <a:xfrm>
            <a:off x="8183880" y="33284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347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8202168" y="39136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images measured against GT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955280" y="4572000"/>
            <a:ext cx="3657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955280" y="4572000"/>
            <a:ext cx="109728" cy="1188720"/>
          </a:xfrm>
          <a:prstGeom prst="rect">
            <a:avLst/>
          </a:prstGeom>
          <a:solidFill>
            <a:srgbClr val="1C5D8C"/>
          </a:solidFill>
          <a:ln/>
        </p:spPr>
      </p:sp>
      <p:sp>
        <p:nvSpPr>
          <p:cNvPr id="16" name="Text 13"/>
          <p:cNvSpPr/>
          <p:nvPr/>
        </p:nvSpPr>
        <p:spPr>
          <a:xfrm>
            <a:off x="8183880" y="47000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Overshoot at 12 ft</a:t>
            </a:r>
            <a:endParaRPr lang="en-US" sz="2500" dirty="0"/>
          </a:p>
        </p:txBody>
      </p:sp>
      <p:sp>
        <p:nvSpPr>
          <p:cNvPr id="17" name="Text 14"/>
          <p:cNvSpPr/>
          <p:nvPr/>
        </p:nvSpPr>
        <p:spPr>
          <a:xfrm>
            <a:off x="8202168" y="52852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motivates per-user calibration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131 Final Project  ·  Daoyuan Chi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findings that strengthen the method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5394960" cy="109728"/>
          </a:xfrm>
          <a:prstGeom prst="rect">
            <a:avLst/>
          </a:prstGeom>
          <a:solidFill>
            <a:srgbClr val="37C5A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Per-user calibration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4846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3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proportions vary by person, so a single population baseline mislabels a naturally-wider face as “distorted.”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3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capture each user’s own neutral once (press </a:t>
            </a:r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3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Correction then engages only when you are genuinely close to the camera, and is a clean no-op otherwise.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difference between a fixed filter and a measure-then-correct system.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5212080"/>
            <a:ext cx="4846320" cy="457200"/>
          </a:xfrm>
          <a:prstGeom prst="rect">
            <a:avLst/>
          </a:prstGeom>
          <a:solidFill>
            <a:srgbClr val="EAF6F1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528523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undistorted face  →  α = 1.00  (untouched)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53949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783080"/>
            <a:ext cx="5394960" cy="1097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057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Learned depth swaps in cleanly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492240" y="2606040"/>
            <a:ext cx="48463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warp, better depth: we drop in </a:t>
            </a:r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Anything V2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3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(NeurIPS 2024) in place of MediaPipe’s z, via one depth-override hook.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3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51-subject CMDP benchmark it closes much more of the gap at close range, confirming the pipeline is depth-limited, not warp-limited.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run ML depth inside the live loop.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92240" y="5212080"/>
            <a:ext cx="4846320" cy="457200"/>
          </a:xfrm>
          <a:prstGeom prst="rect">
            <a:avLst/>
          </a:prstGeom>
          <a:solidFill>
            <a:srgbClr val="E6F0F5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528523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 closed at 4 ft:   </a:t>
            </a:r>
            <a:pPr indent="0" marL="0">
              <a:buNone/>
            </a:pPr>
            <a:r>
              <a:rPr lang="en-US" sz="1300" b="1" dirty="0">
                <a:solidFill>
                  <a:srgbClr val="5B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MediaPipe 33%</a:t>
            </a:r>
            <a:pPr indent="0" marL="0">
              <a:buNone/>
            </a:pPr>
            <a:r>
              <a:rPr lang="en-US" sz="1300" dirty="0">
                <a:solidFill>
                  <a:srgbClr val="1322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78%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131 Final Project  ·  Daoyuan Chi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7C5A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7C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What’s new here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68680" y="2157984"/>
            <a:ext cx="310896" cy="310896"/>
          </a:xfrm>
          <a:prstGeom prst="ellipse">
            <a:avLst/>
          </a:prstGeom>
          <a:solidFill>
            <a:srgbClr val="37C5A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57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2048256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real-time, temporally-stable selfie corrector</a:t>
            </a:r>
            <a:endParaRPr lang="en-US" sz="15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FPS live; prior work is offline per-image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68680" y="3072384"/>
            <a:ext cx="310896" cy="310896"/>
          </a:xfrm>
          <a:prstGeom prst="ellipse">
            <a:avLst/>
          </a:prstGeom>
          <a:solidFill>
            <a:srgbClr val="37C5A3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2962656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depth-driven re-projection</a:t>
            </a:r>
            <a:endParaRPr lang="en-US" sz="15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z → per-pixel pinhole warp, artifact-free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68680" y="3986784"/>
            <a:ext cx="310896" cy="310896"/>
          </a:xfrm>
          <a:prstGeom prst="ellipse">
            <a:avLst/>
          </a:prstGeom>
          <a:solidFill>
            <a:srgbClr val="37C5A3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3877056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ground truth</a:t>
            </a:r>
            <a:endParaRPr lang="en-US" sz="15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51-subject CMDP benchmark, not just demos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68680" y="4901184"/>
            <a:ext cx="310896" cy="310896"/>
          </a:xfrm>
          <a:prstGeom prst="ellipse">
            <a:avLst/>
          </a:prstGeom>
          <a:solidFill>
            <a:srgbClr val="37C5A3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901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4791456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Adaptive, per-user calibration</a:t>
            </a:r>
            <a:endParaRPr lang="en-US" sz="15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corrects only real distortion; no-op otherwise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9281160" y="2057400"/>
            <a:ext cx="2331720" cy="36118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0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0" y="2788920"/>
            <a:ext cx="1920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depth in the live loop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subject study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Auto-calibrate on the first frames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C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github.com/Danni281/cs-131-final-project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Perspective Correction for Selfie Video</dc:title>
  <dc:subject>PptxGenJS Presentation</dc:subject>
  <dc:creator>Daoyuan Chi</dc:creator>
  <cp:lastModifiedBy>Daoyuan Chi</cp:lastModifiedBy>
  <cp:revision>1</cp:revision>
  <dcterms:created xsi:type="dcterms:W3CDTF">2026-06-01T02:32:36Z</dcterms:created>
  <dcterms:modified xsi:type="dcterms:W3CDTF">2026-06-01T02:32:36Z</dcterms:modified>
</cp:coreProperties>
</file>