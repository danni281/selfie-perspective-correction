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jitter</c:v>
                </c:pt>
              </c:strCache>
            </c:strRef>
          </c:tx>
          <c:spPr>
            <a:solidFill>
              <a:srgbClr val="6B7785"/>
            </a:solidFill>
            <a:effectLst/>
          </c:spPr>
          <c:invertIfNegative val="0"/>
          <c:dLbls>
            <c:numFmt formatCode="0.00" sourceLinked="0"/>
            <c:txPr>
              <a:bodyPr/>
              <a:lstStyle/>
              <a:p>
                <a:pPr>
                  <a:defRPr b="1" i="0" strike="noStrike" sz="1200" u="none">
                    <a:solidFill>
                      <a:srgbClr val="1A1A1A"/>
                    </a:solidFill>
                    <a:latin typeface="Calibri"/>
                  </a:defRPr>
                </a:pPr>
              </a:p>
            </c:txPr>
            <c:showLegendKey val="0"/>
            <c:showVal val="1"/>
            <c:showCatName val="0"/>
            <c:showSerName val="0"/>
            <c:showPercent val="0"/>
            <c:showBubbleSize val="0"/>
            <c:showLeaderLines val="0"/>
          </c:dLbls>
          <c:dPt>
            <c:idx val="0"/>
            <c:invertIfNegative val="0"/>
            <c:bubble3D val="0"/>
            <c:spPr>
              <a:solidFill>
                <a:srgbClr val="6B7785"/>
              </a:solidFill>
              <a:effectLst/>
            </c:spPr>
          </c:dPt>
          <c:dPt>
            <c:idx val="1"/>
            <c:invertIfNegative val="0"/>
            <c:bubble3D val="0"/>
            <c:spPr>
              <a:solidFill>
                <a:srgbClr val="2E7D9A"/>
              </a:solidFill>
              <a:effectLst/>
            </c:spPr>
          </c:dPt>
          <c:dPt>
            <c:idx val="2"/>
            <c:invertIfNegative val="0"/>
            <c:bubble3D val="0"/>
            <c:spPr>
              <a:solidFill>
                <a:srgbClr val="2E7D9A"/>
              </a:solidFill>
              <a:effectLst/>
            </c:spPr>
          </c:dPt>
          <c:dPt>
            <c:idx val="3"/>
            <c:invertIfNegative val="0"/>
            <c:bubble3D val="0"/>
            <c:spPr>
              <a:solidFill>
                <a:srgbClr val="2E7D9A"/>
              </a:solidFill>
              <a:effectLst/>
            </c:spPr>
          </c:dPt>
          <c:cat>
            <c:multiLvlStrRef>
              <c:f>Sheet1!$A$2:$A$5</c:f>
              <c:multiLvlStrCache>
                <c:ptCount val="4"/>
                <c:lvl>
                  <c:pt idx="0">
                    <c:v>None</c:v>
                  </c:pt>
                  <c:pt idx="1">
                    <c:v>EMA</c:v>
                  </c:pt>
                  <c:pt idx="2">
                    <c:v>1-Euro</c:v>
                  </c:pt>
                  <c:pt idx="3">
                    <c:v>Kalman</c:v>
                  </c:pt>
                </c:lvl>
              </c:multiLvlStrCache>
            </c:multiLvlStrRef>
          </c:cat>
          <c:val>
            <c:numRef>
              <c:f>Sheet1!$B$2:$B$5</c:f>
              <c:numCache>
                <c:formatCode>General</c:formatCode>
                <c:ptCount val="4"/>
                <c:pt idx="0">
                  <c:v>4.07</c:v>
                </c:pt>
                <c:pt idx="1">
                  <c:v>3.28</c:v>
                </c:pt>
                <c:pt idx="2">
                  <c:v>3.4</c:v>
                </c:pt>
                <c:pt idx="3">
                  <c:v>3.69</c:v>
                </c:pt>
              </c:numCache>
            </c:numRef>
          </c:val>
        </c:ser>
        <c:dLbls>
          <c:numFmt formatCode="0.00" sourceLinked="0"/>
          <c:txPr>
            <a:bodyPr/>
            <a:lstStyle/>
            <a:p>
              <a:pPr>
                <a:defRPr b="1" i="0" strike="noStrike" sz="1200" u="none">
                  <a:solidFill>
                    <a:srgbClr val="1A1A1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A1A1A"/>
                </a:solidFill>
                <a:latin typeface="Calibri"/>
              </a:defRPr>
            </a:pPr>
            <a:endParaRPr lang="en-US"/>
          </a:p>
        </c:txPr>
        <c:crossAx val="2094734552"/>
        <c:crosses val="autoZero"/>
        <c:auto val="1"/>
        <c:lblAlgn val="ctr"/>
        <c:noMultiLvlLbl val="1"/>
      </c:catAx>
      <c:valAx>
        <c:axId val="2094734552"/>
        <c:scaling>
          <c:orientation val="minMax"/>
          <c:max val="5"/>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78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5F"/>
        </a:solidFill>
      </p:bgPr>
    </p:bg>
    <p:spTree>
      <p:nvGrpSpPr>
        <p:cNvPr id="1" name=""/>
        <p:cNvGrpSpPr/>
        <p:nvPr/>
      </p:nvGrpSpPr>
      <p:grpSpPr>
        <a:xfrm>
          <a:off x="0" y="0"/>
          <a:ext cx="0" cy="0"/>
          <a:chOff x="0" y="0"/>
          <a:chExt cx="0" cy="0"/>
        </a:xfrm>
      </p:grpSpPr>
      <p:sp>
        <p:nvSpPr>
          <p:cNvPr id="2" name="Text 0"/>
          <p:cNvSpPr/>
          <p:nvPr/>
        </p:nvSpPr>
        <p:spPr>
          <a:xfrm>
            <a:off x="914400" y="2194560"/>
            <a:ext cx="10332720" cy="146304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Georgia" pitchFamily="34" charset="0"/>
                <a:ea typeface="Georgia" pitchFamily="34" charset="-122"/>
                <a:cs typeface="Georgia" pitchFamily="34" charset="-120"/>
              </a:rPr>
              <a:t>Real-Time Perspective Correction for Selfie Video</a:t>
            </a:r>
            <a:endParaRPr lang="en-US" sz="4000" dirty="0"/>
          </a:p>
        </p:txBody>
      </p:sp>
      <p:sp>
        <p:nvSpPr>
          <p:cNvPr id="3" name="Text 1"/>
          <p:cNvSpPr/>
          <p:nvPr/>
        </p:nvSpPr>
        <p:spPr>
          <a:xfrm>
            <a:off x="914400" y="3749040"/>
            <a:ext cx="10058400" cy="457200"/>
          </a:xfrm>
          <a:prstGeom prst="rect">
            <a:avLst/>
          </a:prstGeom>
          <a:noFill/>
          <a:ln/>
        </p:spPr>
        <p:txBody>
          <a:bodyPr wrap="square" lIns="0" tIns="0" rIns="0" bIns="0" rtlCol="0" anchor="ctr"/>
          <a:lstStyle/>
          <a:p>
            <a:pPr indent="0" marL="0">
              <a:buNone/>
            </a:pPr>
            <a:r>
              <a:rPr lang="en-US" sz="1700" dirty="0">
                <a:solidFill>
                  <a:srgbClr val="C7D4E2"/>
                </a:solidFill>
                <a:latin typeface="Calibri" pitchFamily="34" charset="0"/>
                <a:ea typeface="Calibri" pitchFamily="34" charset="-122"/>
                <a:cs typeface="Calibri" pitchFamily="34" charset="-120"/>
              </a:rPr>
              <a:t>A real-time, depth-based approach to reducing selfie distortion in video</a:t>
            </a:r>
            <a:endParaRPr lang="en-US" sz="1700" dirty="0"/>
          </a:p>
        </p:txBody>
      </p:sp>
      <p:sp>
        <p:nvSpPr>
          <p:cNvPr id="4" name="Text 2"/>
          <p:cNvSpPr/>
          <p:nvPr/>
        </p:nvSpPr>
        <p:spPr>
          <a:xfrm>
            <a:off x="914400" y="4937760"/>
            <a:ext cx="10058400" cy="365760"/>
          </a:xfrm>
          <a:prstGeom prst="rect">
            <a:avLst/>
          </a:prstGeom>
          <a:noFill/>
          <a:ln/>
        </p:spPr>
        <p:txBody>
          <a:bodyPr wrap="square" lIns="0" tIns="0" rIns="0" bIns="0" rtlCol="0" anchor="ctr"/>
          <a:lstStyle/>
          <a:p>
            <a:pPr indent="0" marL="0">
              <a:buNone/>
            </a:pPr>
            <a:r>
              <a:rPr lang="en-US" sz="1400" dirty="0">
                <a:solidFill>
                  <a:srgbClr val="C7D4E2"/>
                </a:solidFill>
                <a:latin typeface="Calibri" pitchFamily="34" charset="0"/>
                <a:ea typeface="Calibri" pitchFamily="34" charset="-122"/>
                <a:cs typeface="Calibri" pitchFamily="34" charset="-120"/>
              </a:rPr>
              <a:t>Daoyuan Chi   ·   Stanford University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lIns="0" tIns="0" rIns="0" bIns="0" rtlCol="0" anchor="ctr"/>
          <a:lstStyle/>
          <a:p>
            <a:pPr indent="0" marL="0">
              <a:buNone/>
            </a:pPr>
            <a:r>
              <a:rPr lang="en-US" sz="2800" b="1" dirty="0">
                <a:solidFill>
                  <a:srgbClr val="1F3A5F"/>
                </a:solidFill>
                <a:latin typeface="Georgia" pitchFamily="34" charset="0"/>
                <a:ea typeface="Georgia" pitchFamily="34" charset="-122"/>
                <a:cs typeface="Georgia" pitchFamily="34" charset="-120"/>
              </a:rPr>
              <a:t>The problem</a:t>
            </a:r>
            <a:endParaRPr lang="en-US" sz="2800" dirty="0"/>
          </a:p>
        </p:txBody>
      </p:sp>
      <p:sp>
        <p:nvSpPr>
          <p:cNvPr id="3" name="Text 1"/>
          <p:cNvSpPr/>
          <p:nvPr/>
        </p:nvSpPr>
        <p:spPr>
          <a:xfrm>
            <a:off x="640080" y="1463040"/>
            <a:ext cx="10789920" cy="2377440"/>
          </a:xfrm>
          <a:prstGeom prst="rect">
            <a:avLst/>
          </a:prstGeom>
          <a:noFill/>
          <a:ln/>
        </p:spPr>
        <p:txBody>
          <a:bodyPr wrap="square" rtlCol="0" anchor="t"/>
          <a:lstStyle/>
          <a:p>
            <a:pPr indent="0" marL="0">
              <a:spcAft>
                <a:spcPts val="1400"/>
              </a:spcAft>
              <a:buNone/>
            </a:pPr>
            <a:r>
              <a:rPr lang="en-US" sz="1700" dirty="0">
                <a:solidFill>
                  <a:srgbClr val="1A1A1A"/>
                </a:solidFill>
                <a:latin typeface="Calibri" pitchFamily="34" charset="0"/>
                <a:ea typeface="Calibri" pitchFamily="34" charset="-122"/>
                <a:cs typeface="Calibri" pitchFamily="34" charset="-120"/>
              </a:rPr>
              <a:t>Front-facing cameras are held close to the face, around 30–50 cm. At that distance, perspective magnifies the features nearest the lens — the nose and lips — relative to the ears and jaw. This is the familiar “selfie” look.</a:t>
            </a:r>
            <a:endParaRPr lang="en-US" sz="1700" dirty="0"/>
          </a:p>
          <a:p>
            <a:pPr indent="0" marL="0">
              <a:spcAft>
                <a:spcPts val="600"/>
              </a:spcAft>
              <a:buNone/>
            </a:pPr>
            <a:r>
              <a:rPr lang="en-US" sz="1700" dirty="0">
                <a:solidFill>
                  <a:srgbClr val="1A1A1A"/>
                </a:solidFill>
                <a:latin typeface="Calibri" pitchFamily="34" charset="0"/>
                <a:ea typeface="Calibri" pitchFamily="34" charset="-122"/>
                <a:cs typeface="Calibri" pitchFamily="34" charset="-120"/>
              </a:rPr>
              <a:t>Prior work addresses this, but mostly for single still images and offline:</a:t>
            </a:r>
            <a:endParaRPr lang="en-US" sz="1700" dirty="0"/>
          </a:p>
          <a:p>
            <a:pPr marL="342900" indent="-342900">
              <a:buSzPct val="100000"/>
              <a:buChar char="•"/>
            </a:pPr>
            <a:r>
              <a:rPr lang="en-US" sz="1700" dirty="0">
                <a:solidFill>
                  <a:srgbClr val="6B7785"/>
                </a:solidFill>
                <a:latin typeface="Calibri" pitchFamily="34" charset="0"/>
                <a:ea typeface="Calibri" pitchFamily="34" charset="-122"/>
                <a:cs typeface="Calibri" pitchFamily="34" charset="-120"/>
              </a:rPr>
              <a:t>fitting a 3D head model to one photo (Fried 2016, Shih 2019)</a:t>
            </a:r>
            <a:endParaRPr lang="en-US" sz="1700" dirty="0"/>
          </a:p>
          <a:p>
            <a:pPr marL="342900" indent="-342900">
              <a:buSzPct val="100000"/>
              <a:buChar char="•"/>
            </a:pPr>
            <a:r>
              <a:rPr lang="en-US" sz="1700" dirty="0">
                <a:solidFill>
                  <a:srgbClr val="6B7785"/>
                </a:solidFill>
                <a:latin typeface="Calibri" pitchFamily="34" charset="0"/>
                <a:ea typeface="Calibri" pitchFamily="34" charset="-122"/>
                <a:cs typeface="Calibri" pitchFamily="34" charset="-120"/>
              </a:rPr>
              <a:t>deep networks that take seconds per image (Zhao 2019, DisCO 2024)</a:t>
            </a:r>
            <a:endParaRPr lang="en-US" sz="1700" dirty="0"/>
          </a:p>
        </p:txBody>
      </p:sp>
      <p:sp>
        <p:nvSpPr>
          <p:cNvPr id="4" name="Text 2"/>
          <p:cNvSpPr/>
          <p:nvPr/>
        </p:nvSpPr>
        <p:spPr>
          <a:xfrm>
            <a:off x="640080" y="4206240"/>
            <a:ext cx="10789920" cy="914400"/>
          </a:xfrm>
          <a:prstGeom prst="rect">
            <a:avLst/>
          </a:prstGeom>
          <a:noFill/>
          <a:ln/>
        </p:spPr>
        <p:txBody>
          <a:bodyPr wrap="square"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This project: </a:t>
            </a:r>
            <a:pPr indent="0" marL="0">
              <a:buNone/>
            </a:pPr>
            <a:r>
              <a:rPr lang="en-US" sz="1700" dirty="0">
                <a:solidFill>
                  <a:srgbClr val="1A1A1A"/>
                </a:solidFill>
                <a:latin typeface="Calibri" pitchFamily="34" charset="0"/>
                <a:ea typeface="Calibri" pitchFamily="34" charset="-122"/>
                <a:cs typeface="Calibri" pitchFamily="34" charset="-120"/>
              </a:rPr>
              <a:t>explore whether a similar correction can run in real time on live video, where the main added challenges are speed and frame-to-frame stability.</a:t>
            </a:r>
            <a:endParaRPr lang="en-US" sz="1700" dirty="0"/>
          </a:p>
        </p:txBody>
      </p:sp>
      <p:sp>
        <p:nvSpPr>
          <p:cNvPr id="5" name="Text 3"/>
          <p:cNvSpPr/>
          <p:nvPr/>
        </p:nvSpPr>
        <p:spPr>
          <a:xfrm>
            <a:off x="640080" y="6446520"/>
            <a:ext cx="8229600" cy="274320"/>
          </a:xfrm>
          <a:prstGeom prst="rect">
            <a:avLst/>
          </a:prstGeom>
          <a:noFill/>
          <a:ln/>
        </p:spPr>
        <p:txBody>
          <a:bodyPr wrap="square" lIns="0" tIns="0" rIns="0" bIns="0" rtlCol="0" anchor="ctr"/>
          <a:lstStyle/>
          <a:p>
            <a:pPr algn="l" indent="0" marL="0">
              <a:buNone/>
            </a:pPr>
            <a:r>
              <a:rPr lang="en-US" sz="900" dirty="0">
                <a:solidFill>
                  <a:srgbClr val="6B7785"/>
                </a:solidFill>
                <a:latin typeface="Calibri" pitchFamily="34" charset="0"/>
                <a:ea typeface="Calibri" pitchFamily="34" charset="-122"/>
                <a:cs typeface="Calibri" pitchFamily="34" charset="-120"/>
              </a:rPr>
              <a:t>Real-Time Perspective Correction  ·  Daoyuan Chi</a:t>
            </a:r>
            <a:endParaRPr lang="en-US" sz="900" dirty="0"/>
          </a:p>
        </p:txBody>
      </p:sp>
      <p:sp>
        <p:nvSpPr>
          <p:cNvPr id="6" name="Text 4"/>
          <p:cNvSpPr/>
          <p:nvPr/>
        </p:nvSpPr>
        <p:spPr>
          <a:xfrm>
            <a:off x="11064240" y="6446520"/>
            <a:ext cx="548640" cy="274320"/>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lIns="0" tIns="0" rIns="0" bIns="0" rtlCol="0" anchor="ctr"/>
          <a:lstStyle/>
          <a:p>
            <a:pPr indent="0" marL="0">
              <a:buNone/>
            </a:pPr>
            <a:r>
              <a:rPr lang="en-US" sz="2800" b="1" dirty="0">
                <a:solidFill>
                  <a:srgbClr val="1F3A5F"/>
                </a:solidFill>
                <a:latin typeface="Georgia" pitchFamily="34" charset="0"/>
                <a:ea typeface="Georgia" pitchFamily="34" charset="-122"/>
                <a:cs typeface="Georgia" pitchFamily="34" charset="-120"/>
              </a:rPr>
              <a:t>Method: a four-stage per-frame pipeline</a:t>
            </a:r>
            <a:endParaRPr lang="en-US" sz="2800" dirty="0"/>
          </a:p>
        </p:txBody>
      </p:sp>
      <p:sp>
        <p:nvSpPr>
          <p:cNvPr id="3" name="Text 1"/>
          <p:cNvSpPr/>
          <p:nvPr/>
        </p:nvSpPr>
        <p:spPr>
          <a:xfrm>
            <a:off x="640080" y="1508760"/>
            <a:ext cx="2194560" cy="548640"/>
          </a:xfrm>
          <a:prstGeom prst="rect">
            <a:avLst/>
          </a:prstGeom>
          <a:noFill/>
          <a:ln/>
        </p:spPr>
        <p:txBody>
          <a:bodyPr wrap="square" lIns="0" tIns="0" rIns="0" bIns="0" rtlCol="0" anchor="t"/>
          <a:lstStyle/>
          <a:p>
            <a:pPr indent="0" marL="0">
              <a:buNone/>
            </a:pPr>
            <a:r>
              <a:rPr lang="en-US" sz="1700" b="1" dirty="0">
                <a:solidFill>
                  <a:srgbClr val="2E7D9A"/>
                </a:solidFill>
                <a:latin typeface="Georgia" pitchFamily="34" charset="0"/>
                <a:ea typeface="Georgia" pitchFamily="34" charset="-122"/>
                <a:cs typeface="Georgia" pitchFamily="34" charset="-120"/>
              </a:rPr>
              <a:t>1.  Detect</a:t>
            </a:r>
            <a:endParaRPr lang="en-US" sz="1700" dirty="0"/>
          </a:p>
        </p:txBody>
      </p:sp>
      <p:sp>
        <p:nvSpPr>
          <p:cNvPr id="4" name="Text 2"/>
          <p:cNvSpPr/>
          <p:nvPr/>
        </p:nvSpPr>
        <p:spPr>
          <a:xfrm>
            <a:off x="2926080" y="1508760"/>
            <a:ext cx="8503920" cy="1005840"/>
          </a:xfrm>
          <a:prstGeom prst="rect">
            <a:avLst/>
          </a:prstGeom>
          <a:noFill/>
          <a:ln/>
        </p:spPr>
        <p:txBody>
          <a:bodyPr wrap="square" lIns="0" tIns="0" rIns="0" bIns="0" rtlCol="0" anchor="t"/>
          <a:lstStyle/>
          <a:p>
            <a:pPr indent="0" marL="0">
              <a:buNone/>
            </a:pPr>
            <a:r>
              <a:rPr lang="en-US" sz="1550" dirty="0">
                <a:solidFill>
                  <a:srgbClr val="1A1A1A"/>
                </a:solidFill>
                <a:latin typeface="Calibri" pitchFamily="34" charset="0"/>
                <a:ea typeface="Calibri" pitchFamily="34" charset="-122"/>
                <a:cs typeface="Calibri" pitchFamily="34" charset="-120"/>
              </a:rPr>
              <a:t>MediaPipe Face Mesh gives 478 facial landmarks per frame, each with a depth (z) value.</a:t>
            </a:r>
            <a:endParaRPr lang="en-US" sz="1550" dirty="0"/>
          </a:p>
        </p:txBody>
      </p:sp>
      <p:sp>
        <p:nvSpPr>
          <p:cNvPr id="5" name="Text 3"/>
          <p:cNvSpPr/>
          <p:nvPr/>
        </p:nvSpPr>
        <p:spPr>
          <a:xfrm>
            <a:off x="640080" y="2377440"/>
            <a:ext cx="2194560" cy="548640"/>
          </a:xfrm>
          <a:prstGeom prst="rect">
            <a:avLst/>
          </a:prstGeom>
          <a:noFill/>
          <a:ln/>
        </p:spPr>
        <p:txBody>
          <a:bodyPr wrap="square" lIns="0" tIns="0" rIns="0" bIns="0" rtlCol="0" anchor="t"/>
          <a:lstStyle/>
          <a:p>
            <a:pPr indent="0" marL="0">
              <a:buNone/>
            </a:pPr>
            <a:r>
              <a:rPr lang="en-US" sz="1700" b="1" dirty="0">
                <a:solidFill>
                  <a:srgbClr val="2E7D9A"/>
                </a:solidFill>
                <a:latin typeface="Georgia" pitchFamily="34" charset="0"/>
                <a:ea typeface="Georgia" pitchFamily="34" charset="-122"/>
                <a:cs typeface="Georgia" pitchFamily="34" charset="-120"/>
              </a:rPr>
              <a:t>2.  Measure</a:t>
            </a:r>
            <a:endParaRPr lang="en-US" sz="1700" dirty="0"/>
          </a:p>
        </p:txBody>
      </p:sp>
      <p:sp>
        <p:nvSpPr>
          <p:cNvPr id="6" name="Text 4"/>
          <p:cNvSpPr/>
          <p:nvPr/>
        </p:nvSpPr>
        <p:spPr>
          <a:xfrm>
            <a:off x="2926080" y="2377440"/>
            <a:ext cx="8503920" cy="1005840"/>
          </a:xfrm>
          <a:prstGeom prst="rect">
            <a:avLst/>
          </a:prstGeom>
          <a:noFill/>
          <a:ln/>
        </p:spPr>
        <p:txBody>
          <a:bodyPr wrap="square" lIns="0" tIns="0" rIns="0" bIns="0" rtlCol="0" anchor="t"/>
          <a:lstStyle/>
          <a:p>
            <a:pPr indent="0" marL="0">
              <a:buNone/>
            </a:pPr>
            <a:r>
              <a:rPr lang="en-US" sz="1550" dirty="0">
                <a:solidFill>
                  <a:srgbClr val="1A1A1A"/>
                </a:solidFill>
                <a:latin typeface="Calibri" pitchFamily="34" charset="0"/>
                <a:ea typeface="Calibri" pitchFamily="34" charset="-122"/>
                <a:cs typeface="Calibri" pitchFamily="34" charset="-120"/>
              </a:rPr>
              <a:t>Compute simple landmark ratios (mainly nose-width / face-width) as a distortion estimate.</a:t>
            </a:r>
            <a:endParaRPr lang="en-US" sz="1550" dirty="0"/>
          </a:p>
        </p:txBody>
      </p:sp>
      <p:sp>
        <p:nvSpPr>
          <p:cNvPr id="7" name="Text 5"/>
          <p:cNvSpPr/>
          <p:nvPr/>
        </p:nvSpPr>
        <p:spPr>
          <a:xfrm>
            <a:off x="640080" y="3246120"/>
            <a:ext cx="2194560" cy="548640"/>
          </a:xfrm>
          <a:prstGeom prst="rect">
            <a:avLst/>
          </a:prstGeom>
          <a:noFill/>
          <a:ln/>
        </p:spPr>
        <p:txBody>
          <a:bodyPr wrap="square" lIns="0" tIns="0" rIns="0" bIns="0" rtlCol="0" anchor="t"/>
          <a:lstStyle/>
          <a:p>
            <a:pPr indent="0" marL="0">
              <a:buNone/>
            </a:pPr>
            <a:r>
              <a:rPr lang="en-US" sz="1700" b="1" dirty="0">
                <a:solidFill>
                  <a:srgbClr val="2E7D9A"/>
                </a:solidFill>
                <a:latin typeface="Georgia" pitchFamily="34" charset="0"/>
                <a:ea typeface="Georgia" pitchFamily="34" charset="-122"/>
                <a:cs typeface="Georgia" pitchFamily="34" charset="-120"/>
              </a:rPr>
              <a:t>3.  Correct</a:t>
            </a:r>
            <a:endParaRPr lang="en-US" sz="1700" dirty="0"/>
          </a:p>
        </p:txBody>
      </p:sp>
      <p:sp>
        <p:nvSpPr>
          <p:cNvPr id="8" name="Text 6"/>
          <p:cNvSpPr/>
          <p:nvPr/>
        </p:nvSpPr>
        <p:spPr>
          <a:xfrm>
            <a:off x="2926080" y="3246120"/>
            <a:ext cx="8503920" cy="1005840"/>
          </a:xfrm>
          <a:prstGeom prst="rect">
            <a:avLst/>
          </a:prstGeom>
          <a:noFill/>
          <a:ln/>
        </p:spPr>
        <p:txBody>
          <a:bodyPr wrap="square" lIns="0" tIns="0" rIns="0" bIns="0" rtlCol="0" anchor="t"/>
          <a:lstStyle/>
          <a:p>
            <a:pPr indent="0" marL="0">
              <a:buNone/>
            </a:pPr>
            <a:r>
              <a:rPr lang="en-US" sz="1550" dirty="0">
                <a:solidFill>
                  <a:srgbClr val="1A1A1A"/>
                </a:solidFill>
                <a:latin typeface="Calibri" pitchFamily="34" charset="0"/>
                <a:ea typeface="Calibri" pitchFamily="34" charset="-122"/>
                <a:cs typeface="Calibri" pitchFamily="34" charset="-120"/>
              </a:rPr>
              <a:t>Interpolate the sparse landmark depths into a dense per-pixel depth map, then apply a pinhole re-projection per pixel (one cv2.remap). A smooth depth field gives a smooth warp.</a:t>
            </a:r>
            <a:endParaRPr lang="en-US" sz="1550" dirty="0"/>
          </a:p>
        </p:txBody>
      </p:sp>
      <p:sp>
        <p:nvSpPr>
          <p:cNvPr id="9" name="Text 7"/>
          <p:cNvSpPr/>
          <p:nvPr/>
        </p:nvSpPr>
        <p:spPr>
          <a:xfrm>
            <a:off x="640080" y="4389120"/>
            <a:ext cx="2194560" cy="548640"/>
          </a:xfrm>
          <a:prstGeom prst="rect">
            <a:avLst/>
          </a:prstGeom>
          <a:noFill/>
          <a:ln/>
        </p:spPr>
        <p:txBody>
          <a:bodyPr wrap="square" lIns="0" tIns="0" rIns="0" bIns="0" rtlCol="0" anchor="t"/>
          <a:lstStyle/>
          <a:p>
            <a:pPr indent="0" marL="0">
              <a:buNone/>
            </a:pPr>
            <a:r>
              <a:rPr lang="en-US" sz="1700" b="1" dirty="0">
                <a:solidFill>
                  <a:srgbClr val="2E7D9A"/>
                </a:solidFill>
                <a:latin typeface="Georgia" pitchFamily="34" charset="0"/>
                <a:ea typeface="Georgia" pitchFamily="34" charset="-122"/>
                <a:cs typeface="Georgia" pitchFamily="34" charset="-120"/>
              </a:rPr>
              <a:t>4.  Stabilize</a:t>
            </a:r>
            <a:endParaRPr lang="en-US" sz="1700" dirty="0"/>
          </a:p>
        </p:txBody>
      </p:sp>
      <p:sp>
        <p:nvSpPr>
          <p:cNvPr id="10" name="Text 8"/>
          <p:cNvSpPr/>
          <p:nvPr/>
        </p:nvSpPr>
        <p:spPr>
          <a:xfrm>
            <a:off x="2926080" y="4389120"/>
            <a:ext cx="8503920" cy="1005840"/>
          </a:xfrm>
          <a:prstGeom prst="rect">
            <a:avLst/>
          </a:prstGeom>
          <a:noFill/>
          <a:ln/>
        </p:spPr>
        <p:txBody>
          <a:bodyPr wrap="square" lIns="0" tIns="0" rIns="0" bIns="0" rtlCol="0" anchor="t"/>
          <a:lstStyle/>
          <a:p>
            <a:pPr indent="0" marL="0">
              <a:buNone/>
            </a:pPr>
            <a:r>
              <a:rPr lang="en-US" sz="1550" dirty="0">
                <a:solidFill>
                  <a:srgbClr val="1A1A1A"/>
                </a:solidFill>
                <a:latin typeface="Calibri" pitchFamily="34" charset="0"/>
                <a:ea typeface="Calibri" pitchFamily="34" charset="-122"/>
                <a:cs typeface="Calibri" pitchFamily="34" charset="-120"/>
              </a:rPr>
              <a:t>Smooth the landmarks over time (EMA / Kalman / 1-Euro) to reduce flicker.</a:t>
            </a:r>
            <a:endParaRPr lang="en-US" sz="1550" dirty="0"/>
          </a:p>
        </p:txBody>
      </p:sp>
      <p:sp>
        <p:nvSpPr>
          <p:cNvPr id="11" name="Text 9"/>
          <p:cNvSpPr/>
          <p:nvPr/>
        </p:nvSpPr>
        <p:spPr>
          <a:xfrm>
            <a:off x="640080" y="5669280"/>
            <a:ext cx="10789920" cy="640080"/>
          </a:xfrm>
          <a:prstGeom prst="rect">
            <a:avLst/>
          </a:prstGeom>
          <a:noFill/>
          <a:ln/>
        </p:spPr>
        <p:txBody>
          <a:bodyPr wrap="square" lIns="0" tIns="0" rIns="0" bIns="0" rtlCol="0" anchor="t"/>
          <a:lstStyle/>
          <a:p>
            <a:pPr indent="0" marL="0">
              <a:buNone/>
            </a:pPr>
            <a:r>
              <a:rPr lang="en-US" sz="1400" i="1" dirty="0">
                <a:solidFill>
                  <a:srgbClr val="6B7785"/>
                </a:solidFill>
                <a:latin typeface="Calibri" pitchFamily="34" charset="0"/>
                <a:ea typeface="Calibri" pitchFamily="34" charset="-122"/>
                <a:cs typeface="Calibri" pitchFamily="34" charset="-120"/>
              </a:rPr>
              <a:t>Key idea: use MediaPipe’s depth as a signal to interpolate, rather than moving landmark points directly — which avoids the seams of sparse-landmark warps.</a:t>
            </a:r>
            <a:endParaRPr lang="en-US" sz="1400" dirty="0"/>
          </a:p>
        </p:txBody>
      </p:sp>
      <p:sp>
        <p:nvSpPr>
          <p:cNvPr id="12" name="Text 10"/>
          <p:cNvSpPr/>
          <p:nvPr/>
        </p:nvSpPr>
        <p:spPr>
          <a:xfrm>
            <a:off x="640080" y="6446520"/>
            <a:ext cx="8229600" cy="274320"/>
          </a:xfrm>
          <a:prstGeom prst="rect">
            <a:avLst/>
          </a:prstGeom>
          <a:noFill/>
          <a:ln/>
        </p:spPr>
        <p:txBody>
          <a:bodyPr wrap="square" lIns="0" tIns="0" rIns="0" bIns="0" rtlCol="0" anchor="ctr"/>
          <a:lstStyle/>
          <a:p>
            <a:pPr algn="l" indent="0" marL="0">
              <a:buNone/>
            </a:pPr>
            <a:r>
              <a:rPr lang="en-US" sz="900" dirty="0">
                <a:solidFill>
                  <a:srgbClr val="6B7785"/>
                </a:solidFill>
                <a:latin typeface="Calibri" pitchFamily="34" charset="0"/>
                <a:ea typeface="Calibri" pitchFamily="34" charset="-122"/>
                <a:cs typeface="Calibri" pitchFamily="34" charset="-120"/>
              </a:rPr>
              <a:t>Real-Time Perspective Correction  ·  Daoyuan Chi</a:t>
            </a:r>
            <a:endParaRPr lang="en-US" sz="900" dirty="0"/>
          </a:p>
        </p:txBody>
      </p:sp>
      <p:sp>
        <p:nvSpPr>
          <p:cNvPr id="13" name="Text 11"/>
          <p:cNvSpPr/>
          <p:nvPr/>
        </p:nvSpPr>
        <p:spPr>
          <a:xfrm>
            <a:off x="11064240" y="6446520"/>
            <a:ext cx="548640" cy="274320"/>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lIns="0" tIns="0" rIns="0" bIns="0" rtlCol="0" anchor="ctr"/>
          <a:lstStyle/>
          <a:p>
            <a:pPr indent="0" marL="0">
              <a:buNone/>
            </a:pPr>
            <a:r>
              <a:rPr lang="en-US" sz="2800" b="1" dirty="0">
                <a:solidFill>
                  <a:srgbClr val="1F3A5F"/>
                </a:solidFill>
                <a:latin typeface="Georgia" pitchFamily="34" charset="0"/>
                <a:ea typeface="Georgia" pitchFamily="34" charset="-122"/>
                <a:cs typeface="Georgia" pitchFamily="34" charset="-120"/>
              </a:rPr>
              <a:t>Result 1: temporal stability</a:t>
            </a:r>
            <a:endParaRPr lang="en-US" sz="2800" dirty="0"/>
          </a:p>
        </p:txBody>
      </p:sp>
      <p:graphicFrame>
        <p:nvGraphicFramePr>
          <p:cNvPr id="3" name="Chart 0" descr=""/>
          <p:cNvGraphicFramePr/>
          <p:nvPr/>
        </p:nvGraphicFramePr>
        <p:xfrm>
          <a:off x="640080" y="1554480"/>
          <a:ext cx="6035040" cy="42062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p:nvPr/>
        </p:nvSpPr>
        <p:spPr>
          <a:xfrm>
            <a:off x="640080" y="5806440"/>
            <a:ext cx="6035040" cy="274320"/>
          </a:xfrm>
          <a:prstGeom prst="rect">
            <a:avLst/>
          </a:prstGeom>
          <a:noFill/>
          <a:ln/>
        </p:spPr>
        <p:txBody>
          <a:bodyPr wrap="square" lIns="0" tIns="0" rIns="0" bIns="0" rtlCol="0" anchor="ctr"/>
          <a:lstStyle/>
          <a:p>
            <a:pPr algn="ctr" indent="0" marL="0">
              <a:buNone/>
            </a:pPr>
            <a:r>
              <a:rPr lang="en-US" sz="1100" i="1" dirty="0">
                <a:solidFill>
                  <a:srgbClr val="6B7785"/>
                </a:solidFill>
                <a:latin typeface="Calibri" pitchFamily="34" charset="0"/>
                <a:ea typeface="Calibri" pitchFamily="34" charset="-122"/>
                <a:cs typeface="Calibri" pitchFamily="34" charset="-120"/>
              </a:rPr>
              <a:t>mean frame-to-frame landmark jitter (px) — lower is steadier</a:t>
            </a:r>
            <a:endParaRPr lang="en-US" sz="1100" dirty="0"/>
          </a:p>
        </p:txBody>
      </p:sp>
      <p:sp>
        <p:nvSpPr>
          <p:cNvPr id="5" name="Text 2"/>
          <p:cNvSpPr/>
          <p:nvPr/>
        </p:nvSpPr>
        <p:spPr>
          <a:xfrm>
            <a:off x="7040880" y="1737360"/>
            <a:ext cx="4572000" cy="3931920"/>
          </a:xfrm>
          <a:prstGeom prst="rect">
            <a:avLst/>
          </a:prstGeom>
          <a:noFill/>
          <a:ln/>
        </p:spPr>
        <p:txBody>
          <a:bodyPr wrap="square" rtlCol="0" anchor="t"/>
          <a:lstStyle/>
          <a:p>
            <a:pPr indent="0" marL="0">
              <a:spcAft>
                <a:spcPts val="1200"/>
              </a:spcAft>
              <a:buNone/>
            </a:pPr>
            <a:r>
              <a:rPr lang="en-US" sz="1500" dirty="0">
                <a:solidFill>
                  <a:srgbClr val="1A1A1A"/>
                </a:solidFill>
                <a:latin typeface="Calibri" pitchFamily="34" charset="0"/>
                <a:ea typeface="Calibri" pitchFamily="34" charset="-122"/>
                <a:cs typeface="Calibri" pitchFamily="34" charset="-120"/>
              </a:rPr>
              <a:t>Running the corrector per frame inherits the detector’s jitter, which causes flicker.</a:t>
            </a:r>
            <a:endParaRPr lang="en-US" sz="1500" dirty="0"/>
          </a:p>
          <a:p>
            <a:pPr indent="0" marL="0">
              <a:spcAft>
                <a:spcPts val="800"/>
              </a:spcAft>
              <a:buNone/>
            </a:pPr>
            <a:r>
              <a:rPr lang="en-US" sz="1500" dirty="0">
                <a:solidFill>
                  <a:srgbClr val="1A1A1A"/>
                </a:solidFill>
                <a:latin typeface="Calibri" pitchFamily="34" charset="0"/>
                <a:ea typeface="Calibri" pitchFamily="34" charset="-122"/>
                <a:cs typeface="Calibri" pitchFamily="34" charset="-120"/>
              </a:rPr>
              <a:t>On a 10 s / 300-frame clip, all three smoothers reduce jitter relative to the per-frame baseline:</a:t>
            </a:r>
            <a:endParaRPr lang="en-US" sz="1500" dirty="0"/>
          </a:p>
          <a:p>
            <a:pPr marL="342900" indent="-342900">
              <a:buSzPct val="100000"/>
              <a:buChar char="•"/>
            </a:pPr>
            <a:r>
              <a:rPr lang="en-US" sz="1500" dirty="0">
                <a:solidFill>
                  <a:srgbClr val="1A1A1A"/>
                </a:solidFill>
                <a:latin typeface="Calibri" pitchFamily="34" charset="0"/>
                <a:ea typeface="Calibri" pitchFamily="34" charset="-122"/>
                <a:cs typeface="Calibri" pitchFamily="34" charset="-120"/>
              </a:rPr>
              <a:t>EMA ≈ 19% lower</a:t>
            </a:r>
            <a:endParaRPr lang="en-US" sz="1500" dirty="0"/>
          </a:p>
          <a:p>
            <a:pPr marL="342900" indent="-342900">
              <a:buSzPct val="100000"/>
              <a:buChar char="•"/>
            </a:pPr>
            <a:r>
              <a:rPr lang="en-US" sz="1500" dirty="0">
                <a:solidFill>
                  <a:srgbClr val="1A1A1A"/>
                </a:solidFill>
                <a:latin typeface="Calibri" pitchFamily="34" charset="0"/>
                <a:ea typeface="Calibri" pitchFamily="34" charset="-122"/>
                <a:cs typeface="Calibri" pitchFamily="34" charset="-120"/>
              </a:rPr>
              <a:t>1-Euro ≈ 16% lower, with better response during motion</a:t>
            </a:r>
            <a:endParaRPr lang="en-US" sz="1500" dirty="0"/>
          </a:p>
          <a:p>
            <a:pPr marL="342900" indent="-342900">
              <a:buSzPct val="100000"/>
              <a:buChar char="•"/>
            </a:pPr>
            <a:r>
              <a:rPr lang="en-US" sz="1500" dirty="0">
                <a:solidFill>
                  <a:srgbClr val="1A1A1A"/>
                </a:solidFill>
                <a:latin typeface="Calibri" pitchFamily="34" charset="0"/>
                <a:ea typeface="Calibri" pitchFamily="34" charset="-122"/>
                <a:cs typeface="Calibri" pitchFamily="34" charset="-120"/>
              </a:rPr>
              <a:t>Kalman ≈ 9% lower</a:t>
            </a:r>
            <a:endParaRPr lang="en-US" sz="1500" dirty="0"/>
          </a:p>
        </p:txBody>
      </p:sp>
      <p:sp>
        <p:nvSpPr>
          <p:cNvPr id="6" name="Text 3"/>
          <p:cNvSpPr/>
          <p:nvPr/>
        </p:nvSpPr>
        <p:spPr>
          <a:xfrm>
            <a:off x="640080" y="6446520"/>
            <a:ext cx="8229600" cy="274320"/>
          </a:xfrm>
          <a:prstGeom prst="rect">
            <a:avLst/>
          </a:prstGeom>
          <a:noFill/>
          <a:ln/>
        </p:spPr>
        <p:txBody>
          <a:bodyPr wrap="square" lIns="0" tIns="0" rIns="0" bIns="0" rtlCol="0" anchor="ctr"/>
          <a:lstStyle/>
          <a:p>
            <a:pPr algn="l" indent="0" marL="0">
              <a:buNone/>
            </a:pPr>
            <a:r>
              <a:rPr lang="en-US" sz="900" dirty="0">
                <a:solidFill>
                  <a:srgbClr val="6B7785"/>
                </a:solidFill>
                <a:latin typeface="Calibri" pitchFamily="34" charset="0"/>
                <a:ea typeface="Calibri" pitchFamily="34" charset="-122"/>
                <a:cs typeface="Calibri" pitchFamily="34" charset="-120"/>
              </a:rPr>
              <a:t>Real-Time Perspective Correction  ·  Daoyuan Chi</a:t>
            </a:r>
            <a:endParaRPr lang="en-US" sz="900" dirty="0"/>
          </a:p>
        </p:txBody>
      </p:sp>
      <p:sp>
        <p:nvSpPr>
          <p:cNvPr id="7" name="Text 4"/>
          <p:cNvSpPr/>
          <p:nvPr/>
        </p:nvSpPr>
        <p:spPr>
          <a:xfrm>
            <a:off x="11064240" y="6446520"/>
            <a:ext cx="548640" cy="274320"/>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lIns="0" tIns="0" rIns="0" bIns="0" rtlCol="0" anchor="ctr"/>
          <a:lstStyle/>
          <a:p>
            <a:pPr indent="0" marL="0">
              <a:buNone/>
            </a:pPr>
            <a:r>
              <a:rPr lang="en-US" sz="2800" b="1" dirty="0">
                <a:solidFill>
                  <a:srgbClr val="1F3A5F"/>
                </a:solidFill>
                <a:latin typeface="Georgia" pitchFamily="34" charset="0"/>
                <a:ea typeface="Georgia" pitchFamily="34" charset="-122"/>
                <a:cs typeface="Georgia" pitchFamily="34" charset="-120"/>
              </a:rPr>
              <a:t>Result 2: accuracy on a ground-truth benchmark</a:t>
            </a:r>
            <a:endParaRPr lang="en-US" sz="2800" dirty="0"/>
          </a:p>
        </p:txBody>
      </p:sp>
      <p:pic>
        <p:nvPicPr>
          <p:cNvPr id="3" name="Image 0" descr="cmdp_clean.png">    </p:cNvPr>
          <p:cNvPicPr>
            <a:picLocks noChangeAspect="1"/>
          </p:cNvPicPr>
          <p:nvPr/>
        </p:nvPicPr>
        <p:blipFill>
          <a:blip r:embed="rId1"/>
          <a:srcRect l="0" r="0" t="0" b="0"/>
          <a:stretch/>
        </p:blipFill>
        <p:spPr>
          <a:xfrm>
            <a:off x="640080" y="1554480"/>
            <a:ext cx="6949440" cy="3566160"/>
          </a:xfrm>
          <a:prstGeom prst="rect">
            <a:avLst/>
          </a:prstGeom>
        </p:spPr>
      </p:pic>
      <p:sp>
        <p:nvSpPr>
          <p:cNvPr id="4" name="Text 1"/>
          <p:cNvSpPr/>
          <p:nvPr/>
        </p:nvSpPr>
        <p:spPr>
          <a:xfrm>
            <a:off x="640080" y="5212080"/>
            <a:ext cx="6949440" cy="640080"/>
          </a:xfrm>
          <a:prstGeom prst="rect">
            <a:avLst/>
          </a:prstGeom>
          <a:noFill/>
          <a:ln/>
        </p:spPr>
        <p:txBody>
          <a:bodyPr wrap="square" lIns="0" tIns="0" rIns="0" bIns="0" rtlCol="0" anchor="t"/>
          <a:lstStyle/>
          <a:p>
            <a:pPr indent="0" marL="0">
              <a:buNone/>
            </a:pPr>
            <a:r>
              <a:rPr lang="en-US" sz="1200" i="1" dirty="0">
                <a:solidFill>
                  <a:srgbClr val="6B7785"/>
                </a:solidFill>
                <a:latin typeface="Calibri" pitchFamily="34" charset="0"/>
                <a:ea typeface="Calibri" pitchFamily="34" charset="-122"/>
                <a:cs typeface="Calibri" pitchFamily="34" charset="-120"/>
              </a:rPr>
              <a:t>Caltech Multi-Distance Portraits: 51 subjects, each shot at 2–16 ft. The 16 ft image is the near-undistorted reference.</a:t>
            </a:r>
            <a:endParaRPr lang="en-US" sz="1200" dirty="0"/>
          </a:p>
        </p:txBody>
      </p:sp>
      <p:sp>
        <p:nvSpPr>
          <p:cNvPr id="5" name="Text 2"/>
          <p:cNvSpPr/>
          <p:nvPr/>
        </p:nvSpPr>
        <p:spPr>
          <a:xfrm>
            <a:off x="7863840" y="1737360"/>
            <a:ext cx="3749040" cy="3931920"/>
          </a:xfrm>
          <a:prstGeom prst="rect">
            <a:avLst/>
          </a:prstGeom>
          <a:noFill/>
          <a:ln/>
        </p:spPr>
        <p:txBody>
          <a:bodyPr wrap="square" rtlCol="0" anchor="t"/>
          <a:lstStyle/>
          <a:p>
            <a:pPr indent="0" marL="0">
              <a:spcAft>
                <a:spcPts val="1200"/>
              </a:spcAft>
              <a:buNone/>
            </a:pPr>
            <a:r>
              <a:rPr lang="en-US" sz="1450" dirty="0">
                <a:solidFill>
                  <a:srgbClr val="1A1A1A"/>
                </a:solidFill>
                <a:latin typeface="Calibri" pitchFamily="34" charset="0"/>
                <a:ea typeface="Calibri" pitchFamily="34" charset="-122"/>
                <a:cs typeface="Calibri" pitchFamily="34" charset="-120"/>
              </a:rPr>
              <a:t>The raw nose ratio rises steadily as the camera gets closer, so the metric does capture perspective distortion.</a:t>
            </a:r>
            <a:endParaRPr lang="en-US" sz="1450" dirty="0"/>
          </a:p>
          <a:p>
            <a:pPr indent="0" marL="0">
              <a:spcAft>
                <a:spcPts val="1200"/>
              </a:spcAft>
              <a:buNone/>
            </a:pPr>
            <a:r>
              <a:rPr lang="en-US" sz="1450" dirty="0">
                <a:solidFill>
                  <a:srgbClr val="1A1A1A"/>
                </a:solidFill>
                <a:latin typeface="Calibri" pitchFamily="34" charset="0"/>
                <a:ea typeface="Calibri" pitchFamily="34" charset="-122"/>
                <a:cs typeface="Calibri" pitchFamily="34" charset="-120"/>
              </a:rPr>
              <a:t>Across 347 images, the correction moves the ratio toward the ground-truth line at every distance, closing roughly 38–93% of the gap at typical selfie distances.</a:t>
            </a:r>
            <a:endParaRPr lang="en-US" sz="1450" dirty="0"/>
          </a:p>
          <a:p>
            <a:pPr indent="0" marL="0">
              <a:buNone/>
            </a:pPr>
            <a:r>
              <a:rPr lang="en-US" sz="1450" dirty="0">
                <a:solidFill>
                  <a:srgbClr val="6B7785"/>
                </a:solidFill>
                <a:latin typeface="Calibri" pitchFamily="34" charset="0"/>
                <a:ea typeface="Calibri" pitchFamily="34" charset="-122"/>
                <a:cs typeface="Calibri" pitchFamily="34" charset="-120"/>
              </a:rPr>
              <a:t>At a fixed strength it can over-correct at far distances — which motivates the per-user calibration below.</a:t>
            </a:r>
            <a:endParaRPr lang="en-US" sz="1450" dirty="0"/>
          </a:p>
        </p:txBody>
      </p:sp>
      <p:sp>
        <p:nvSpPr>
          <p:cNvPr id="6" name="Text 3"/>
          <p:cNvSpPr/>
          <p:nvPr/>
        </p:nvSpPr>
        <p:spPr>
          <a:xfrm>
            <a:off x="640080" y="6446520"/>
            <a:ext cx="8229600" cy="274320"/>
          </a:xfrm>
          <a:prstGeom prst="rect">
            <a:avLst/>
          </a:prstGeom>
          <a:noFill/>
          <a:ln/>
        </p:spPr>
        <p:txBody>
          <a:bodyPr wrap="square" lIns="0" tIns="0" rIns="0" bIns="0" rtlCol="0" anchor="ctr"/>
          <a:lstStyle/>
          <a:p>
            <a:pPr algn="l" indent="0" marL="0">
              <a:buNone/>
            </a:pPr>
            <a:r>
              <a:rPr lang="en-US" sz="900" dirty="0">
                <a:solidFill>
                  <a:srgbClr val="6B7785"/>
                </a:solidFill>
                <a:latin typeface="Calibri" pitchFamily="34" charset="0"/>
                <a:ea typeface="Calibri" pitchFamily="34" charset="-122"/>
                <a:cs typeface="Calibri" pitchFamily="34" charset="-120"/>
              </a:rPr>
              <a:t>Real-Time Perspective Correction  ·  Daoyuan Chi</a:t>
            </a:r>
            <a:endParaRPr lang="en-US" sz="900" dirty="0"/>
          </a:p>
        </p:txBody>
      </p:sp>
      <p:sp>
        <p:nvSpPr>
          <p:cNvPr id="7" name="Text 4"/>
          <p:cNvSpPr/>
          <p:nvPr/>
        </p:nvSpPr>
        <p:spPr>
          <a:xfrm>
            <a:off x="11064240" y="6446520"/>
            <a:ext cx="548640" cy="274320"/>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lIns="0" tIns="0" rIns="0" bIns="0" rtlCol="0" anchor="ctr"/>
          <a:lstStyle/>
          <a:p>
            <a:pPr indent="0" marL="0">
              <a:buNone/>
            </a:pPr>
            <a:r>
              <a:rPr lang="en-US" sz="2800" b="1" dirty="0">
                <a:solidFill>
                  <a:srgbClr val="1F3A5F"/>
                </a:solidFill>
                <a:latin typeface="Georgia" pitchFamily="34" charset="0"/>
                <a:ea typeface="Georgia" pitchFamily="34" charset="-122"/>
                <a:cs typeface="Georgia" pitchFamily="34" charset="-120"/>
              </a:rPr>
              <a:t>Two observations</a:t>
            </a:r>
            <a:endParaRPr lang="en-US" sz="2800" dirty="0"/>
          </a:p>
        </p:txBody>
      </p:sp>
      <p:sp>
        <p:nvSpPr>
          <p:cNvPr id="3" name="Text 1"/>
          <p:cNvSpPr/>
          <p:nvPr/>
        </p:nvSpPr>
        <p:spPr>
          <a:xfrm>
            <a:off x="640080" y="1554480"/>
            <a:ext cx="10058400" cy="411480"/>
          </a:xfrm>
          <a:prstGeom prst="rect">
            <a:avLst/>
          </a:prstGeom>
          <a:noFill/>
          <a:ln/>
        </p:spPr>
        <p:txBody>
          <a:bodyPr wrap="square" lIns="0" tIns="0" rIns="0" bIns="0" rtlCol="0" anchor="ctr"/>
          <a:lstStyle/>
          <a:p>
            <a:pPr indent="0" marL="0">
              <a:buNone/>
            </a:pPr>
            <a:r>
              <a:rPr lang="en-US" sz="1800" b="1" dirty="0">
                <a:solidFill>
                  <a:srgbClr val="1F3A5F"/>
                </a:solidFill>
                <a:latin typeface="Georgia" pitchFamily="34" charset="0"/>
                <a:ea typeface="Georgia" pitchFamily="34" charset="-122"/>
                <a:cs typeface="Georgia" pitchFamily="34" charset="-120"/>
              </a:rPr>
              <a:t>Per-user calibration</a:t>
            </a:r>
            <a:endParaRPr lang="en-US" sz="1800" dirty="0"/>
          </a:p>
        </p:txBody>
      </p:sp>
      <p:sp>
        <p:nvSpPr>
          <p:cNvPr id="4" name="Text 2"/>
          <p:cNvSpPr/>
          <p:nvPr/>
        </p:nvSpPr>
        <p:spPr>
          <a:xfrm>
            <a:off x="640080" y="2011680"/>
            <a:ext cx="10789920" cy="1005840"/>
          </a:xfrm>
          <a:prstGeom prst="rect">
            <a:avLst/>
          </a:prstGeom>
          <a:noFill/>
          <a:ln/>
        </p:spPr>
        <p:txBody>
          <a:bodyPr wrap="square" lIns="0" tIns="0" rIns="0" bIns="0" rtlCol="0" anchor="t"/>
          <a:lstStyle/>
          <a:p>
            <a:pPr indent="0" marL="0">
              <a:buNone/>
            </a:pPr>
            <a:r>
              <a:rPr lang="en-US" sz="1550" dirty="0">
                <a:solidFill>
                  <a:srgbClr val="1A1A1A"/>
                </a:solidFill>
                <a:latin typeface="Calibri" pitchFamily="34" charset="0"/>
                <a:ea typeface="Calibri" pitchFamily="34" charset="-122"/>
                <a:cs typeface="Calibri" pitchFamily="34" charset="-120"/>
              </a:rPr>
              <a:t>Face proportions vary between people, so a single population baseline can mislabel a naturally wider face as distorted. Capturing each user’s own neutral once lets the system correct only when the face is genuinely close, and do little otherwise.</a:t>
            </a:r>
            <a:endParaRPr lang="en-US" sz="1550" dirty="0"/>
          </a:p>
        </p:txBody>
      </p:sp>
      <p:sp>
        <p:nvSpPr>
          <p:cNvPr id="5" name="Text 3"/>
          <p:cNvSpPr/>
          <p:nvPr/>
        </p:nvSpPr>
        <p:spPr>
          <a:xfrm>
            <a:off x="640080" y="3383280"/>
            <a:ext cx="10058400" cy="411480"/>
          </a:xfrm>
          <a:prstGeom prst="rect">
            <a:avLst/>
          </a:prstGeom>
          <a:noFill/>
          <a:ln/>
        </p:spPr>
        <p:txBody>
          <a:bodyPr wrap="square" lIns="0" tIns="0" rIns="0" bIns="0" rtlCol="0" anchor="ctr"/>
          <a:lstStyle/>
          <a:p>
            <a:pPr indent="0" marL="0">
              <a:buNone/>
            </a:pPr>
            <a:r>
              <a:rPr lang="en-US" sz="1800" b="1" dirty="0">
                <a:solidFill>
                  <a:srgbClr val="1F3A5F"/>
                </a:solidFill>
                <a:latin typeface="Georgia" pitchFamily="34" charset="0"/>
                <a:ea typeface="Georgia" pitchFamily="34" charset="-122"/>
                <a:cs typeface="Georgia" pitchFamily="34" charset="-120"/>
              </a:rPr>
              <a:t>Depth quality appears to be the main limit</a:t>
            </a:r>
            <a:endParaRPr lang="en-US" sz="1800" dirty="0"/>
          </a:p>
        </p:txBody>
      </p:sp>
      <p:sp>
        <p:nvSpPr>
          <p:cNvPr id="6" name="Text 4"/>
          <p:cNvSpPr/>
          <p:nvPr/>
        </p:nvSpPr>
        <p:spPr>
          <a:xfrm>
            <a:off x="640080" y="3840480"/>
            <a:ext cx="10789920" cy="1005840"/>
          </a:xfrm>
          <a:prstGeom prst="rect">
            <a:avLst/>
          </a:prstGeom>
          <a:noFill/>
          <a:ln/>
        </p:spPr>
        <p:txBody>
          <a:bodyPr wrap="square" lIns="0" tIns="0" rIns="0" bIns="0" rtlCol="0" anchor="t"/>
          <a:lstStyle/>
          <a:p>
            <a:pPr indent="0" marL="0">
              <a:buNone/>
            </a:pPr>
            <a:r>
              <a:rPr lang="en-US" sz="1550" dirty="0">
                <a:solidFill>
                  <a:srgbClr val="1A1A1A"/>
                </a:solidFill>
                <a:latin typeface="Calibri" pitchFamily="34" charset="0"/>
                <a:ea typeface="Calibri" pitchFamily="34" charset="-122"/>
                <a:cs typeface="Calibri" pitchFamily="34" charset="-120"/>
              </a:rPr>
              <a:t>Substituting a learned depth model (Depth Anything V2) for MediaPipe’s depth, with the same warp, closed noticeably more of the gap at close range. This suggests the limiting factor is the depth signal rather than the warp itself.</a:t>
            </a:r>
            <a:endParaRPr lang="en-US" sz="1550" dirty="0"/>
          </a:p>
        </p:txBody>
      </p:sp>
      <p:sp>
        <p:nvSpPr>
          <p:cNvPr id="7" name="Text 5"/>
          <p:cNvSpPr/>
          <p:nvPr/>
        </p:nvSpPr>
        <p:spPr>
          <a:xfrm>
            <a:off x="640080" y="5212080"/>
            <a:ext cx="10789920" cy="731520"/>
          </a:xfrm>
          <a:prstGeom prst="rect">
            <a:avLst/>
          </a:prstGeom>
          <a:noFill/>
          <a:ln/>
        </p:spPr>
        <p:txBody>
          <a:bodyPr wrap="square" lIns="0" tIns="0" rIns="0" bIns="0" rtlCol="0" anchor="t"/>
          <a:lstStyle/>
          <a:p>
            <a:pPr indent="0" marL="0">
              <a:buNone/>
            </a:pPr>
            <a:r>
              <a:rPr lang="en-US" sz="1400" i="1" dirty="0">
                <a:solidFill>
                  <a:srgbClr val="6B7785"/>
                </a:solidFill>
                <a:latin typeface="Calibri" pitchFamily="34" charset="0"/>
                <a:ea typeface="Calibri" pitchFamily="34" charset="-122"/>
                <a:cs typeface="Calibri" pitchFamily="34" charset="-120"/>
              </a:rPr>
              <a:t>Limitations: the distortion metric is person-dependent, the effect is subtle at normal distance, and a single-ratio 2D warp cannot fully reproduce the 3D shape.</a:t>
            </a:r>
            <a:endParaRPr lang="en-US" sz="1400" dirty="0"/>
          </a:p>
        </p:txBody>
      </p:sp>
      <p:sp>
        <p:nvSpPr>
          <p:cNvPr id="8" name="Text 6"/>
          <p:cNvSpPr/>
          <p:nvPr/>
        </p:nvSpPr>
        <p:spPr>
          <a:xfrm>
            <a:off x="640080" y="6446520"/>
            <a:ext cx="8229600" cy="274320"/>
          </a:xfrm>
          <a:prstGeom prst="rect">
            <a:avLst/>
          </a:prstGeom>
          <a:noFill/>
          <a:ln/>
        </p:spPr>
        <p:txBody>
          <a:bodyPr wrap="square" lIns="0" tIns="0" rIns="0" bIns="0" rtlCol="0" anchor="ctr"/>
          <a:lstStyle/>
          <a:p>
            <a:pPr algn="l" indent="0" marL="0">
              <a:buNone/>
            </a:pPr>
            <a:r>
              <a:rPr lang="en-US" sz="900" dirty="0">
                <a:solidFill>
                  <a:srgbClr val="6B7785"/>
                </a:solidFill>
                <a:latin typeface="Calibri" pitchFamily="34" charset="0"/>
                <a:ea typeface="Calibri" pitchFamily="34" charset="-122"/>
                <a:cs typeface="Calibri" pitchFamily="34" charset="-120"/>
              </a:rPr>
              <a:t>Real-Time Perspective Correction  ·  Daoyuan Chi</a:t>
            </a:r>
            <a:endParaRPr lang="en-US" sz="900" dirty="0"/>
          </a:p>
        </p:txBody>
      </p:sp>
      <p:sp>
        <p:nvSpPr>
          <p:cNvPr id="9" name="Text 7"/>
          <p:cNvSpPr/>
          <p:nvPr/>
        </p:nvSpPr>
        <p:spPr>
          <a:xfrm>
            <a:off x="11064240" y="6446520"/>
            <a:ext cx="548640" cy="274320"/>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F3A5F"/>
        </a:solidFill>
      </p:bgPr>
    </p:bg>
    <p:spTree>
      <p:nvGrpSpPr>
        <p:cNvPr id="1" name=""/>
        <p:cNvGrpSpPr/>
        <p:nvPr/>
      </p:nvGrpSpPr>
      <p:grpSpPr>
        <a:xfrm>
          <a:off x="0" y="0"/>
          <a:ext cx="0" cy="0"/>
          <a:chOff x="0" y="0"/>
          <a:chExt cx="0" cy="0"/>
        </a:xfrm>
      </p:grpSpPr>
      <p:sp>
        <p:nvSpPr>
          <p:cNvPr id="2" name="Text 0"/>
          <p:cNvSpPr/>
          <p:nvPr/>
        </p:nvSpPr>
        <p:spPr>
          <a:xfrm>
            <a:off x="914400" y="822960"/>
            <a:ext cx="100584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Summary</a:t>
            </a:r>
            <a:endParaRPr lang="en-US" sz="2800" dirty="0"/>
          </a:p>
        </p:txBody>
      </p:sp>
      <p:sp>
        <p:nvSpPr>
          <p:cNvPr id="3" name="Text 1"/>
          <p:cNvSpPr/>
          <p:nvPr/>
        </p:nvSpPr>
        <p:spPr>
          <a:xfrm>
            <a:off x="914400" y="1828800"/>
            <a:ext cx="10332720" cy="3108960"/>
          </a:xfrm>
          <a:prstGeom prst="rect">
            <a:avLst/>
          </a:prstGeom>
          <a:noFill/>
          <a:ln/>
        </p:spPr>
        <p:txBody>
          <a:bodyPr wrap="square" rtlCol="0" anchor="t"/>
          <a:lstStyle/>
          <a:p>
            <a:pPr marL="342900" indent="-342900">
              <a:spcAft>
                <a:spcPts val="1400"/>
              </a:spcAft>
              <a:buSzPct val="100000"/>
              <a:buChar char="•"/>
            </a:pPr>
            <a:r>
              <a:rPr lang="en-US" sz="1700" dirty="0">
                <a:solidFill>
                  <a:srgbClr val="E6EDF4"/>
                </a:solidFill>
                <a:latin typeface="Calibri" pitchFamily="34" charset="0"/>
                <a:ea typeface="Calibri" pitchFamily="34" charset="-122"/>
                <a:cs typeface="Calibri" pitchFamily="34" charset="-120"/>
              </a:rPr>
              <a:t>A real-time, depth-based perspective corrector for selfie video, running at roughly 23–30 FPS on a laptop.</a:t>
            </a:r>
            <a:endParaRPr lang="en-US" sz="1700" dirty="0"/>
          </a:p>
          <a:p>
            <a:pPr marL="342900" indent="-342900">
              <a:spcAft>
                <a:spcPts val="1400"/>
              </a:spcAft>
              <a:buSzPct val="100000"/>
              <a:buChar char="•"/>
            </a:pPr>
            <a:r>
              <a:rPr lang="en-US" sz="1700" dirty="0">
                <a:solidFill>
                  <a:srgbClr val="E6EDF4"/>
                </a:solidFill>
                <a:latin typeface="Calibri" pitchFamily="34" charset="0"/>
                <a:ea typeface="Calibri" pitchFamily="34" charset="-122"/>
                <a:cs typeface="Calibri" pitchFamily="34" charset="-120"/>
              </a:rPr>
              <a:t>A dense depth-driven warp that reuses MediaPipe’s landmark depths and avoids sparse-warp artifacts.</a:t>
            </a:r>
            <a:endParaRPr lang="en-US" sz="1700" dirty="0"/>
          </a:p>
          <a:p>
            <a:pPr marL="342900" indent="-342900">
              <a:spcAft>
                <a:spcPts val="1400"/>
              </a:spcAft>
              <a:buSzPct val="100000"/>
              <a:buChar char="•"/>
            </a:pPr>
            <a:r>
              <a:rPr lang="en-US" sz="1700" dirty="0">
                <a:solidFill>
                  <a:srgbClr val="E6EDF4"/>
                </a:solidFill>
                <a:latin typeface="Calibri" pitchFamily="34" charset="0"/>
                <a:ea typeface="Calibri" pitchFamily="34" charset="-122"/>
                <a:cs typeface="Calibri" pitchFamily="34" charset="-120"/>
              </a:rPr>
              <a:t>Evaluated on a 51-subject ground-truth benchmark, with three temporal smoothers compared.</a:t>
            </a:r>
            <a:endParaRPr lang="en-US" sz="1700" dirty="0"/>
          </a:p>
          <a:p>
            <a:pPr marL="342900" indent="-342900">
              <a:buSzPct val="100000"/>
              <a:buChar char="•"/>
            </a:pPr>
            <a:r>
              <a:rPr lang="en-US" sz="1700" dirty="0">
                <a:solidFill>
                  <a:srgbClr val="E6EDF4"/>
                </a:solidFill>
                <a:latin typeface="Calibri" pitchFamily="34" charset="0"/>
                <a:ea typeface="Calibri" pitchFamily="34" charset="-122"/>
                <a:cs typeface="Calibri" pitchFamily="34" charset="-120"/>
              </a:rPr>
              <a:t>Per-user calibration so the correction is adaptive rather than fixed.</a:t>
            </a:r>
            <a:endParaRPr lang="en-US" sz="1700" dirty="0"/>
          </a:p>
        </p:txBody>
      </p:sp>
      <p:sp>
        <p:nvSpPr>
          <p:cNvPr id="4" name="Text 2"/>
          <p:cNvSpPr/>
          <p:nvPr/>
        </p:nvSpPr>
        <p:spPr>
          <a:xfrm>
            <a:off x="914400" y="5029200"/>
            <a:ext cx="10332720" cy="548640"/>
          </a:xfrm>
          <a:prstGeom prst="rect">
            <a:avLst/>
          </a:prstGeom>
          <a:noFill/>
          <a:ln/>
        </p:spPr>
        <p:txBody>
          <a:bodyPr wrap="square" lIns="0" tIns="0" rIns="0" bIns="0" rtlCol="0" anchor="t"/>
          <a:lstStyle/>
          <a:p>
            <a:pPr indent="0" marL="0">
              <a:buNone/>
            </a:pPr>
            <a:r>
              <a:rPr lang="en-US" sz="1400" i="1" dirty="0">
                <a:solidFill>
                  <a:srgbClr val="AFC0D4"/>
                </a:solidFill>
                <a:latin typeface="Calibri" pitchFamily="34" charset="0"/>
                <a:ea typeface="Calibri" pitchFamily="34" charset="-122"/>
                <a:cs typeface="Calibri" pitchFamily="34" charset="-120"/>
              </a:rPr>
              <a:t>Future work: a faster learned-depth model in the live loop, automatic calibration, and a richer distortion metric.</a:t>
            </a:r>
            <a:endParaRPr lang="en-US" sz="1400" dirty="0"/>
          </a:p>
        </p:txBody>
      </p:sp>
      <p:sp>
        <p:nvSpPr>
          <p:cNvPr id="5" name="Text 3"/>
          <p:cNvSpPr/>
          <p:nvPr/>
        </p:nvSpPr>
        <p:spPr>
          <a:xfrm>
            <a:off x="914400" y="5852160"/>
            <a:ext cx="10332720" cy="365760"/>
          </a:xfrm>
          <a:prstGeom prst="rect">
            <a:avLst/>
          </a:prstGeom>
          <a:noFill/>
          <a:ln/>
        </p:spPr>
        <p:txBody>
          <a:bodyPr wrap="square" lIns="0" tIns="0" rIns="0" bIns="0" rtlCol="0" anchor="ctr"/>
          <a:lstStyle/>
          <a:p>
            <a:pPr indent="0" marL="0">
              <a:buNone/>
            </a:pPr>
            <a:r>
              <a:rPr lang="en-US" sz="1300" dirty="0">
                <a:solidFill>
                  <a:srgbClr val="AFC0D4"/>
                </a:solidFill>
                <a:latin typeface="Calibri" pitchFamily="34" charset="0"/>
                <a:ea typeface="Calibri" pitchFamily="34" charset="-122"/>
                <a:cs typeface="Calibri" pitchFamily="34" charset="-120"/>
              </a:rPr>
              <a:t>github.com/Danni281/selfie-perspective-correction   ·   Thank you</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Perspective Correction for Selfie Video</dc:title>
  <dc:subject>PptxGenJS Presentation</dc:subject>
  <dc:creator>Daoyuan Chi</dc:creator>
  <cp:lastModifiedBy>Daoyuan Chi</cp:lastModifiedBy>
  <cp:revision>1</cp:revision>
  <dcterms:created xsi:type="dcterms:W3CDTF">2026-06-01T22:07:04Z</dcterms:created>
  <dcterms:modified xsi:type="dcterms:W3CDTF">2026-06-01T22:07:04Z</dcterms:modified>
</cp:coreProperties>
</file>